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1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2391"/>
  </p:normalViewPr>
  <p:slideViewPr>
    <p:cSldViewPr snapToGrid="0">
      <p:cViewPr varScale="1">
        <p:scale>
          <a:sx n="102" d="100"/>
          <a:sy n="102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F4975B-DCA9-27E9-BEC7-B3B92D911D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BF846-ED8A-E6B0-6B06-8950B07C4FE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67B4E52-7BAE-2348-832A-99BDB0F2528B}" type="datetimeFigureOut">
              <a:rPr lang="en-US"/>
              <a:pPr>
                <a:defRPr/>
              </a:pPr>
              <a:t>3/4/26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EA0761-F8FC-F351-52C2-DA61ADDA2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4506E9C-0D4D-3C0F-DDFA-64F4BAE89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27FA8-59EB-074B-8249-D0ADEC850F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5619F-AD38-DF1A-E017-6B26F2CF6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72AF812-37D3-0B43-A454-6BFB961925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4967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  <a:p>
            <a:r>
              <a:rPr lang="en-US" dirty="0"/>
              <a:t>Amy Hurford</a:t>
            </a:r>
          </a:p>
          <a:p>
            <a:r>
              <a:rPr lang="en-US" dirty="0"/>
              <a:t>Memorial University</a:t>
            </a:r>
          </a:p>
          <a:p>
            <a:r>
              <a:rPr lang="en-CA" dirty="0"/>
              <a:t>16 January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21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F33B7E4-8C9F-8E48-A817-30B4237443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C67C74-BDE3-852C-38B6-7F87FC3B7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C1BB8-9889-8F47-A34F-2211DD7932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45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8BDCE-47F9-F745-6874-2A8048DB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D35CF-7A7B-9A85-4CA8-61245B67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500AD-A8A4-64FC-7576-E9757CC2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5324A-866B-F041-A43D-1A8DF74C93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4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480FA34-A6A3-E75D-9989-26A617F20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B02C67C-1136-0DEA-6445-1EA1F5A08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29416-A864-C14E-ADBA-391C9409E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6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E7A7A7A-339B-D151-19F6-275CECC172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34AEDF9-A86B-9F66-916F-3FD68BD2A3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9A0EA-9D4A-034C-B68D-7614E9997D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7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9D1756D-1D0B-621B-B101-986F0C6684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70BE8FE-8BBA-D5DD-C4B0-6D4877C002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D5786-DFC2-4144-996A-2AFCB711A4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A6551CF-168F-0EA1-3291-44A174E997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EFB14F1-361B-FA54-82B1-39BA80FB23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9D8FC1-7DF0-734F-93A7-FB2A9162FA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99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7A67396-09C2-E117-F2D1-5CE5C846AE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59FC0B3-FB30-9FD6-3907-A2F7B43B1B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AB4B1-1C46-F44E-9CAD-A44C224D7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1781482-B815-764C-2626-7B009AA9E5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1EB4779-46FB-D7FB-B655-8A1149DCB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B0D5B-0605-0C4C-84EE-094DC1F5AA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8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C39DE58-78E2-7C9A-3AC6-B50BC370EB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432162-4BFE-82CF-81FA-66AE8F5617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69BF16-50CE-B648-AFA3-E95468CB5E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4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144B00-81AE-86ED-046C-BFD9044BEA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B71DD3-4141-38A1-139B-4A28BDE66C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C9F77-4CD3-1841-80B3-735B19AC3D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3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0009791-C04B-F3DD-E355-0C7854435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230D469-6286-3D6A-52D2-4BF75EAD9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3F875-7145-A890-42CB-5100E0D5B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8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D15D09C-DDB8-9B49-B200-3D4174CAC9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29" name="Picture 9" descr="A logo with blue circles and dots&#10;&#10;AI-generated content may be incorrect.">
            <a:extLst>
              <a:ext uri="{FF2B5EF4-FFF2-40B4-BE49-F238E27FC236}">
                <a16:creationId xmlns:a16="http://schemas.microsoft.com/office/drawing/2014/main" id="{48B568FC-44A4-5983-806D-87C6FB5D8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825" y="6275388"/>
            <a:ext cx="15398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1" descr="A logo with text on it&#10;&#10;AI-generated content may be incorrect.">
            <a:extLst>
              <a:ext uri="{FF2B5EF4-FFF2-40B4-BE49-F238E27FC236}">
                <a16:creationId xmlns:a16="http://schemas.microsoft.com/office/drawing/2014/main" id="{E2CF5D5F-BA59-94CF-BD3E-03C5C4F39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450" y="6261100"/>
            <a:ext cx="9794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74ADAF-14BC-2632-953C-D1F357633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urford/macpan2-calibration-working-gro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anmod.github.io/macpan2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NEQf2sy6QLxMiiWBN5Yn9U7wiPMs1ji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drxiv.org/content/10.1101/2025.09.26.25336738v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anmod.github.io/macpan-workshop/companion-materials.html#express-uncertainty-in-model-parameter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Maximum_a_posteriori_estimation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anmod.github.io/macpan2/articles/calibration#statistical-mode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askr.github.io/adcomp/_book/Introduction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atent_variable_mode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nmod.github.io/macpan-workshop/companion-materials.html#express-uncertainty-in-model-parameter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urford/macpan2-calibration-working-gro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020C803B-9A6E-7187-F5F8-A08922BDFB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macpan2 calibration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3314" name="Subtitle 2">
            <a:extLst>
              <a:ext uri="{FF2B5EF4-FFF2-40B4-BE49-F238E27FC236}">
                <a16:creationId xmlns:a16="http://schemas.microsoft.com/office/drawing/2014/main" id="{2200EFC6-318E-EDC5-65FE-26E173BF54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3602038"/>
            <a:ext cx="9144000" cy="1949450"/>
          </a:xfrm>
        </p:spPr>
        <p:txBody>
          <a:bodyPr/>
          <a:lstStyle/>
          <a:p>
            <a:pPr eaLnBrk="1" hangingPunct="1"/>
            <a:endParaRPr lang="en-US" altLang="en-US" sz="3600" dirty="0"/>
          </a:p>
          <a:p>
            <a:pPr eaLnBrk="1" hangingPunct="1"/>
            <a:r>
              <a:rPr lang="en-US" altLang="en-US" sz="3600" dirty="0"/>
              <a:t>Amy Hurford</a:t>
            </a:r>
          </a:p>
          <a:p>
            <a:pPr eaLnBrk="1" hangingPunct="1"/>
            <a:r>
              <a:rPr lang="en-US" altLang="en-US" sz="3600" dirty="0"/>
              <a:t>March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07FC-CB05-9C71-DC8F-2D4422C17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Working group repository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F993EE-67A9-1F7E-89C1-4AF8EC285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42" y="1096391"/>
            <a:ext cx="7258658" cy="4868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694B96-3E13-219A-0284-D6897E573B8A}"/>
              </a:ext>
            </a:extLst>
          </p:cNvPr>
          <p:cNvSpPr txBox="1"/>
          <p:nvPr/>
        </p:nvSpPr>
        <p:spPr>
          <a:xfrm>
            <a:off x="2267211" y="631311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352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:a16="http://schemas.microsoft.com/office/drawing/2014/main" id="{45E1E4BC-1A0E-AC13-B064-97C4379EE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30" y="150498"/>
            <a:ext cx="7772400" cy="5476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2ACFE1-6AA7-49C7-8EB1-52171A4276B1}"/>
              </a:ext>
            </a:extLst>
          </p:cNvPr>
          <p:cNvSpPr txBox="1"/>
          <p:nvPr/>
        </p:nvSpPr>
        <p:spPr>
          <a:xfrm>
            <a:off x="1177447" y="5652474"/>
            <a:ext cx="686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3"/>
              </a:rPr>
              <a:t>Link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68333-98E3-AFFF-DDA4-40AA6301D014}"/>
              </a:ext>
            </a:extLst>
          </p:cNvPr>
          <p:cNvSpPr txBox="1"/>
          <p:nvPr/>
        </p:nvSpPr>
        <p:spPr>
          <a:xfrm>
            <a:off x="2637370" y="5639948"/>
            <a:ext cx="3980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4"/>
              </a:rPr>
              <a:t>Link to “why macpan2?” video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919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CE2C-4199-2632-A779-4B1244DA4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Goal: calibration of mechanistic models</a:t>
            </a:r>
          </a:p>
        </p:txBody>
      </p:sp>
      <p:pic>
        <p:nvPicPr>
          <p:cNvPr id="5" name="Picture 4" descr="A diagram of a vaccination&#10;&#10;AI-generated content may be incorrect.">
            <a:extLst>
              <a:ext uri="{FF2B5EF4-FFF2-40B4-BE49-F238E27FC236}">
                <a16:creationId xmlns:a16="http://schemas.microsoft.com/office/drawing/2014/main" id="{DE043609-EE74-E5BC-C211-E6CDC5FA6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07" y="1214682"/>
            <a:ext cx="6453158" cy="5536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076C41-6A98-1E8C-22F1-0278F10114B7}"/>
              </a:ext>
            </a:extLst>
          </p:cNvPr>
          <p:cNvSpPr txBox="1"/>
          <p:nvPr/>
        </p:nvSpPr>
        <p:spPr>
          <a:xfrm>
            <a:off x="6989523" y="1868735"/>
            <a:ext cx="48141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Mechanistic models describe processes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Contrast with pattern matching approaches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D9F4E-5439-3042-37BA-2AC9D59E9EF9}"/>
              </a:ext>
            </a:extLst>
          </p:cNvPr>
          <p:cNvSpPr txBox="1"/>
          <p:nvPr/>
        </p:nvSpPr>
        <p:spPr>
          <a:xfrm>
            <a:off x="6989523" y="4689178"/>
            <a:ext cx="4814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Examples are from Anokye et al. </a:t>
            </a:r>
            <a:r>
              <a:rPr lang="en-US" sz="2400" dirty="0" err="1"/>
              <a:t>MedRxiv</a:t>
            </a:r>
            <a:r>
              <a:rPr lang="en-US" sz="2400" dirty="0"/>
              <a:t>. </a:t>
            </a:r>
            <a:r>
              <a:rPr lang="en-US" sz="2400" dirty="0">
                <a:hlinkClick r:id="rId3"/>
              </a:rPr>
              <a:t>link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5957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A103-5D03-6D51-0D5F-DBDB7A0D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Parameter estimation for mechanistic models</a:t>
            </a:r>
          </a:p>
        </p:txBody>
      </p:sp>
      <p:pic>
        <p:nvPicPr>
          <p:cNvPr id="5" name="Picture 4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8E701C78-2267-934E-4FA8-91B799CA1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09" y="1126393"/>
            <a:ext cx="5935286" cy="54309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E392A8-A1F3-883B-FCD8-DB609CA649BB}"/>
              </a:ext>
            </a:extLst>
          </p:cNvPr>
          <p:cNvSpPr txBox="1"/>
          <p:nvPr/>
        </p:nvSpPr>
        <p:spPr>
          <a:xfrm>
            <a:off x="7126304" y="1866378"/>
            <a:ext cx="4798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Fixed parameters</a:t>
            </a:r>
            <a:r>
              <a:rPr lang="en-US" sz="2400" dirty="0"/>
              <a:t>: a point estimate based on published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1B647-A6ED-820D-8E7E-DCE7C1E68908}"/>
              </a:ext>
            </a:extLst>
          </p:cNvPr>
          <p:cNvSpPr txBox="1"/>
          <p:nvPr/>
        </p:nvSpPr>
        <p:spPr>
          <a:xfrm>
            <a:off x="7126304" y="3972839"/>
            <a:ext cx="4635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Fitted parameters</a:t>
            </a:r>
            <a:r>
              <a:rPr lang="en-US" sz="2400" dirty="0"/>
              <a:t>: assumed prior distributions based on published values. Estimated using MAP </a:t>
            </a:r>
          </a:p>
        </p:txBody>
      </p:sp>
    </p:spTree>
    <p:extLst>
      <p:ext uri="{BB962C8B-B14F-4D97-AF65-F5344CB8AC3E}">
        <p14:creationId xmlns:p14="http://schemas.microsoft.com/office/powerpoint/2010/main" val="393221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CDED3-3BE3-AD5E-3C36-417164FE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a posteriori (MAP) estimation</a:t>
            </a:r>
          </a:p>
        </p:txBody>
      </p:sp>
      <p:pic>
        <p:nvPicPr>
          <p:cNvPr id="5" name="Picture 4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D9BBDFEF-E85A-48BE-F80C-780E637D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2235200"/>
            <a:ext cx="11248958" cy="2336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3D81D0-4859-CB69-7602-26EFAE37A0F7}"/>
              </a:ext>
            </a:extLst>
          </p:cNvPr>
          <p:cNvSpPr txBox="1"/>
          <p:nvPr/>
        </p:nvSpPr>
        <p:spPr>
          <a:xfrm>
            <a:off x="1089764" y="457200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DF7FE-D235-26B0-B312-9E8744C99D7B}"/>
              </a:ext>
            </a:extLst>
          </p:cNvPr>
          <p:cNvSpPr txBox="1"/>
          <p:nvPr/>
        </p:nvSpPr>
        <p:spPr>
          <a:xfrm>
            <a:off x="1089764" y="5116512"/>
            <a:ext cx="497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link about maximum a posteriori (MAP) estimation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9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AC3D-0EE8-CB57-B11F-67223C4F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Prior and posterior distributions</a:t>
            </a:r>
          </a:p>
        </p:txBody>
      </p:sp>
      <p:pic>
        <p:nvPicPr>
          <p:cNvPr id="5" name="Picture 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C4BB7816-A693-120E-5DFB-C28E79345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1360161"/>
            <a:ext cx="9513314" cy="413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6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51F8-4D49-BDB2-AA6B-6A0ED8B9F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Statistical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F2E88-5141-097E-C9EF-227D8580AD8F}"/>
              </a:ext>
            </a:extLst>
          </p:cNvPr>
          <p:cNvSpPr txBox="1"/>
          <p:nvPr/>
        </p:nvSpPr>
        <p:spPr>
          <a:xfrm>
            <a:off x="1629649" y="6137753"/>
            <a:ext cx="700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linkClick r:id="rId2"/>
              </a:rPr>
              <a:t>link</a:t>
            </a:r>
            <a:endParaRPr lang="en-US" sz="2800" dirty="0"/>
          </a:p>
        </p:txBody>
      </p:sp>
      <p:pic>
        <p:nvPicPr>
          <p:cNvPr id="6" name="Picture 5" descr="A screenshot of a document&#10;&#10;AI-generated content may be incorrect.">
            <a:extLst>
              <a:ext uri="{FF2B5EF4-FFF2-40B4-BE49-F238E27FC236}">
                <a16:creationId xmlns:a16="http://schemas.microsoft.com/office/drawing/2014/main" id="{09FCF355-CBAA-CDBE-AF16-856C6F0E9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649" y="1039267"/>
            <a:ext cx="6628032" cy="509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43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disease&#10;&#10;AI-generated content may be incorrect.">
            <a:extLst>
              <a:ext uri="{FF2B5EF4-FFF2-40B4-BE49-F238E27FC236}">
                <a16:creationId xmlns:a16="http://schemas.microsoft.com/office/drawing/2014/main" id="{DB4959A0-153C-A183-EB0C-AAC1CD57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2" y="1325563"/>
            <a:ext cx="6990336" cy="493745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0DD1C8A-4815-7F41-C9FF-21E50137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Statistical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970A5-14F1-C585-8775-DF9287D90F62}"/>
              </a:ext>
            </a:extLst>
          </p:cNvPr>
          <p:cNvSpPr txBox="1"/>
          <p:nvPr/>
        </p:nvSpPr>
        <p:spPr>
          <a:xfrm>
            <a:off x="8104341" y="1966586"/>
            <a:ext cx="3895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macpan2 uses </a:t>
            </a:r>
            <a:r>
              <a:rPr lang="en-US" sz="2400" dirty="0">
                <a:hlinkClick r:id="rId3"/>
              </a:rPr>
              <a:t>template model builder (TMB) </a:t>
            </a:r>
            <a:r>
              <a:rPr lang="en-US" sz="2400" dirty="0"/>
              <a:t>to calibrate models to data</a:t>
            </a:r>
          </a:p>
          <a:p>
            <a:endParaRPr lang="en-US" sz="2400" dirty="0"/>
          </a:p>
          <a:p>
            <a:r>
              <a:rPr lang="en-US" sz="2400" dirty="0"/>
              <a:t>Link about what </a:t>
            </a:r>
            <a:r>
              <a:rPr lang="en-US" sz="2400" dirty="0">
                <a:hlinkClick r:id="rId4"/>
              </a:rPr>
              <a:t>latent variable models </a:t>
            </a:r>
            <a:r>
              <a:rPr lang="en-US" sz="2400" dirty="0"/>
              <a:t>are</a:t>
            </a:r>
          </a:p>
        </p:txBody>
      </p:sp>
    </p:spTree>
    <p:extLst>
      <p:ext uri="{BB962C8B-B14F-4D97-AF65-F5344CB8AC3E}">
        <p14:creationId xmlns:p14="http://schemas.microsoft.com/office/powerpoint/2010/main" val="266708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400C-E6AB-C1D5-8CC6-02040A55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See also topics from workshop materials</a:t>
            </a:r>
          </a:p>
        </p:txBody>
      </p:sp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6DBDB819-F6E2-F9CA-F34C-23845490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7" y="1325563"/>
            <a:ext cx="5053643" cy="148189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E40BB1-6AF5-8D8B-5EF3-B953FFDE2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5563"/>
            <a:ext cx="4927600" cy="4813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95CDF3-5182-5C8A-8DBC-C221FBB28B8F}"/>
              </a:ext>
            </a:extLst>
          </p:cNvPr>
          <p:cNvSpPr txBox="1"/>
          <p:nvPr/>
        </p:nvSpPr>
        <p:spPr>
          <a:xfrm>
            <a:off x="1064712" y="3933173"/>
            <a:ext cx="275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Link to macpan2 workshop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63E58-C904-A7E2-B573-AF77C406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0414-82ED-2494-E504-442AF9F6D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16" y="0"/>
            <a:ext cx="11991584" cy="1325563"/>
          </a:xfrm>
        </p:spPr>
        <p:txBody>
          <a:bodyPr/>
          <a:lstStyle/>
          <a:p>
            <a:r>
              <a:rPr lang="en-US" dirty="0"/>
              <a:t>To get started visit the working group repository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734F0B-FF4D-9C0A-C9FB-326D1D3C1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42" y="1096391"/>
            <a:ext cx="7258658" cy="4868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C3A3EE-6B15-7F65-56CC-4B3227F2351C}"/>
              </a:ext>
            </a:extLst>
          </p:cNvPr>
          <p:cNvSpPr txBox="1"/>
          <p:nvPr/>
        </p:nvSpPr>
        <p:spPr>
          <a:xfrm>
            <a:off x="2267211" y="6313118"/>
            <a:ext cx="561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99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C813325-8F34-654A-A26E-9C84623FD2FC}" vid="{518ACCC7-995D-754A-8BC3-7723A86F43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140</Words>
  <Application>Microsoft Macintosh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Aptos</vt:lpstr>
      <vt:lpstr>Office Theme</vt:lpstr>
      <vt:lpstr>macpan2 calibration </vt:lpstr>
      <vt:lpstr>Working group repository</vt:lpstr>
      <vt:lpstr>PowerPoint Presentation</vt:lpstr>
      <vt:lpstr>Goal: calibration of mechanistic models</vt:lpstr>
      <vt:lpstr>Parameter estimation for mechanistic models</vt:lpstr>
      <vt:lpstr>Maximum a posteriori (MAP) estimation</vt:lpstr>
      <vt:lpstr>Prior and posterior distributions</vt:lpstr>
      <vt:lpstr>Statistical model</vt:lpstr>
      <vt:lpstr>Statistical model</vt:lpstr>
      <vt:lpstr>See also topics from workshop materials</vt:lpstr>
      <vt:lpstr>To get started visit the working group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1503 Hurford,Amy</dc:creator>
  <cp:lastModifiedBy>Hurford, Amy</cp:lastModifiedBy>
  <cp:revision>6</cp:revision>
  <dcterms:created xsi:type="dcterms:W3CDTF">2026-01-16T13:05:43Z</dcterms:created>
  <dcterms:modified xsi:type="dcterms:W3CDTF">2026-03-04T12:52:23Z</dcterms:modified>
</cp:coreProperties>
</file>